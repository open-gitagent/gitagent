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97280" y="1371600"/>
            <a:ext cx="201168" cy="201168"/>
          </a:xfrm>
          <a:prstGeom prst="ellipse">
            <a:avLst/>
          </a:prstGeom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97280" y="2286000"/>
            <a:ext cx="201168" cy="201168"/>
          </a:xfrm>
          <a:prstGeom prst="ellipse">
            <a:avLst/>
          </a:prstGeom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554480" y="1371600"/>
            <a:ext cx="201168" cy="201168"/>
          </a:xfrm>
          <a:prstGeom prst="ellipse">
            <a:avLst/>
          </a:prstGeom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1197864" y="1472184"/>
            <a:ext cx="0" cy="813816"/>
          </a:xfrm>
          <a:prstGeom prst="straightConnector1">
            <a:avLst/>
          </a:prstGeom>
          <a:noFill/>
          <a:ln cap="flat" cmpd="sng" w="19050">
            <a:prstDash val="solid"/>
            <a:round/>
            <a:headEnd len="sm" w="sm" type="none"/>
            <a:tailEnd len="sm" w="sm" type="none"/>
            <a:solidFill>
              <a:srgbClr val="DED9D3"/>
            </a:solidFill>
          </a:ln>
        </p:spPr>
      </p:cxnSp>
      <p:cxnSp>
        <p:nvCxnSpPr>
          <p:cNvPr id="22" name="Google Shape;22;p3"/>
          <p:cNvCxnSpPr/>
          <p:nvPr/>
        </p:nvCxnSpPr>
        <p:spPr>
          <a:xfrm>
            <a:off x="1197864" y="1472184"/>
            <a:ext cx="356616" cy="0"/>
          </a:xfrm>
          <a:prstGeom prst="straightConnector1">
            <a:avLst/>
          </a:prstGeom>
          <a:noFill/>
          <a:ln cap="flat" cmpd="sng" w="12700">
            <a:prstDash val="dash"/>
            <a:round/>
            <a:headEnd len="sm" w="sm" type="none"/>
            <a:tailEnd len="sm" w="sm" type="none"/>
            <a:solidFill>
              <a:srgbClr val="DED9D3"/>
            </a:solidFill>
          </a:ln>
        </p:spPr>
      </p:cxnSp>
      <p:sp>
        <p:nvSpPr>
          <p:cNvPr id="23" name="Google Shape;23;p3"/>
          <p:cNvSpPr/>
          <p:nvPr/>
        </p:nvSpPr>
        <p:spPr>
          <a:xfrm>
            <a:off x="1463040" y="1188720"/>
            <a:ext cx="7315200" cy="100584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GitAgent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463040" y="2240280"/>
            <a:ext cx="6400800" cy="5029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AI Agents as Git Repositories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463040" y="2834640"/>
            <a:ext cx="5943600" cy="22860"/>
          </a:xfrm>
          <a:prstGeom prst="rect">
            <a:avLst/>
          </a:prstGeom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463040" y="2971800"/>
            <a:ext cx="6400800" cy="45720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Version-control your agent. Share it. Clone it. Ship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463040" y="4389120"/>
            <a:ext cx="6400800" cy="36576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Abhinivesh S  |  AI Engineer  |  LyzrAI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The Idea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1234440"/>
            <a:ext cx="2651760" cy="3200400"/>
          </a:xfrm>
          <a:prstGeom prst="roundRect">
            <a:avLst>
              <a:gd fmla="val 4138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48640" y="1399032"/>
            <a:ext cx="640080" cy="64008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21792" y="2103120"/>
            <a:ext cx="2331720" cy="5029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Agent = Git Repo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21792" y="2651760"/>
            <a:ext cx="2331720" cy="155448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Personality, rules, memory, and skills are plain files — no opaque databases.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91840" y="1234440"/>
            <a:ext cx="2651760" cy="3200400"/>
          </a:xfrm>
          <a:prstGeom prst="roundRect">
            <a:avLst>
              <a:gd fmla="val 4138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383280" y="1399032"/>
            <a:ext cx="640080" cy="64008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✏️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456432" y="2103120"/>
            <a:ext cx="2331720" cy="5029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Edit to Change Behavior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456432" y="2651760"/>
            <a:ext cx="2331720" cy="155448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Modify a file and behavior changes instantly. No redeploy. No dashboard.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126480" y="1234440"/>
            <a:ext cx="2651760" cy="3200400"/>
          </a:xfrm>
          <a:prstGeom prst="roundRect">
            <a:avLst>
              <a:gd fmla="val 4138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217920" y="1399032"/>
            <a:ext cx="640080" cy="64008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291072" y="2103120"/>
            <a:ext cx="2331720" cy="5029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Calibri"/>
                <a:cs typeface="Calibri"/>
                <a:sym typeface="Calibri"/>
              </a:rPr>
              <a:t>Share via git push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91072" y="2651760"/>
            <a:ext cx="2331720" cy="155448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Push to any remote. Clone it and get the exact same agent, anywhere.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Install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Full install (voice + web UI)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1435608"/>
            <a:ext cx="8229600" cy="658368"/>
          </a:xfrm>
          <a:prstGeom prst="roundRect">
            <a:avLst>
              <a:gd fmla="val 11111" name="adj"/>
            </a:avLst>
          </a:prstGeom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40080" y="1490472"/>
            <a:ext cx="7863840" cy="5486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bash &lt;(curl -fsSL "https://raw.githubusercontent.com/open-gitagent/gitagent/main/install.sh?$(date +%s)")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NPM global install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fmla="val 11111" name="adj"/>
            </a:avLst>
          </a:prstGeom>
          <a:ln cap="flat" cmpd="sng" w="9525">
            <a:solidFill>
              <a:srgbClr val="818C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2724912"/>
            <a:ext cx="7863840" cy="5486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npm install -g @open-gitagent/gitagent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6A34A"/>
                </a:solidFill>
                <a:latin typeface="DM Sans"/>
                <a:ea typeface="Calibri"/>
                <a:cs typeface="Calibri"/>
                <a:sym typeface="Calibri"/>
              </a:rPr>
              <a:t>First run — scaffolds agent files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3904488"/>
            <a:ext cx="8229600" cy="658368"/>
          </a:xfrm>
          <a:prstGeom prst="roundRect">
            <a:avLst>
              <a:gd fmla="val 11111" name="adj"/>
            </a:avLst>
          </a:prstGeom>
          <a:ln cap="flat" cmpd="sng" w="9525">
            <a:solidFill>
              <a:srgbClr val="34D39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40080" y="3959352"/>
            <a:ext cx="7863840" cy="5486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mkdir my-agent &amp;&amp; cd my-agent &amp;&amp; git init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gitagent --dir . "Hello"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Agent Structure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fmla="val 2632" name="adj"/>
            </a:avLst>
          </a:prstGeom>
          <a:ln cap="flat" cmpd="sng" w="9525">
            <a:solidFill>
              <a:srgbClr val="818CF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85800" y="1325880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67391B"/>
                </a:solidFill>
                <a:latin typeface="Courier New"/>
                <a:ea typeface="Courier New"/>
                <a:cs typeface="Courier New"/>
                <a:sym typeface="Courier New"/>
              </a:rPr>
              <a:t>my-agent/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85800" y="1618488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agent.yaml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85800" y="1911096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SOUL.md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85800" y="2203704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RULES.md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85800" y="2496312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DUTIES.md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85800" y="2788920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memory/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85800" y="3081528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skills/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85800" y="3374136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├── hooks/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85800" y="3666744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tools/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85800" y="3959352"/>
            <a:ext cx="3566160" cy="256032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└── agents/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754880" y="1097280"/>
            <a:ext cx="3886200" cy="365760"/>
          </a:xfrm>
          <a:prstGeom prst="roundRect">
            <a:avLst>
              <a:gd fmla="val 17500" name="adj"/>
            </a:avLst>
          </a:prstGeom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919472" y="1152144"/>
            <a:ext cx="3566160" cy="25603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agent.yaml  </a:t>
            </a:r>
            <a:r>
              <a:rPr b="0" i="0" lang="en-US" sz="105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Model, tools, skills, runtime config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754880" y="1545336"/>
            <a:ext cx="3886200" cy="365760"/>
          </a:xfrm>
          <a:prstGeom prst="roundRect">
            <a:avLst>
              <a:gd fmla="val 17500" name="adj"/>
            </a:avLst>
          </a:prstGeom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919472" y="1600200"/>
            <a:ext cx="3566160" cy="25603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SOUL.md  </a:t>
            </a:r>
            <a:r>
              <a:rPr b="0" i="0" lang="en-US" sz="105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Personality and tone definition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754880" y="1993392"/>
            <a:ext cx="3886200" cy="365760"/>
          </a:xfrm>
          <a:prstGeom prst="roundRect">
            <a:avLst>
              <a:gd fmla="val 17500" name="adj"/>
            </a:avLst>
          </a:prstGeom>
          <a:ln cap="flat" cmpd="sng" w="9525">
            <a:solidFill>
              <a:srgbClr val="818C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919472" y="2048256"/>
            <a:ext cx="3566160" cy="25603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RULES.md  </a:t>
            </a:r>
            <a:r>
              <a:rPr b="0" i="0" lang="en-US" sz="105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Hard constraints — never break these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754880" y="2441448"/>
            <a:ext cx="3886200" cy="365760"/>
          </a:xfrm>
          <a:prstGeom prst="roundRect">
            <a:avLst>
              <a:gd fmla="val 17500" name="adj"/>
            </a:avLst>
          </a:prstGeom>
          <a:ln cap="flat" cmpd="sng" w="9525">
            <a:solidFill>
              <a:srgbClr val="818C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919472" y="2496312"/>
            <a:ext cx="3566160" cy="25603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DUTIES.md  </a:t>
            </a:r>
            <a:r>
              <a:rPr b="0" i="0" lang="en-US" sz="105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Job responsibilities and context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54880" y="2889504"/>
            <a:ext cx="3886200" cy="365760"/>
          </a:xfrm>
          <a:prstGeom prst="roundRect">
            <a:avLst>
              <a:gd fmla="val 17500" name="adj"/>
            </a:avLst>
          </a:prstGeom>
          <a:ln cap="flat" cmpd="sng" w="9525">
            <a:solidFill>
              <a:srgbClr val="34D39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919472" y="2944368"/>
            <a:ext cx="3566160" cy="25603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DM Sans"/>
                <a:ea typeface="Calibri"/>
                <a:cs typeface="Calibri"/>
                <a:sym typeface="Calibri"/>
              </a:rPr>
              <a:t>memory/  </a:t>
            </a:r>
            <a:r>
              <a:rPr b="0" i="0" lang="en-US" sz="105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Persistent memory (git-committed)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754880" y="3337560"/>
            <a:ext cx="3886200" cy="365760"/>
          </a:xfrm>
          <a:prstGeom prst="roundRect">
            <a:avLst>
              <a:gd fmla="val 17500" name="adj"/>
            </a:avLst>
          </a:prstGeom>
          <a:ln cap="flat" cmpd="sng" w="9525">
            <a:solidFill>
              <a:srgbClr val="34D39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4919472" y="3392424"/>
            <a:ext cx="3566160" cy="25603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DM Sans"/>
                <a:ea typeface="Calibri"/>
                <a:cs typeface="Calibri"/>
                <a:sym typeface="Calibri"/>
              </a:rPr>
              <a:t>skills/  </a:t>
            </a:r>
            <a:r>
              <a:rPr b="0" i="0" lang="en-US" sz="105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Reusable instruction 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754880" y="3785616"/>
            <a:ext cx="3886200" cy="365760"/>
          </a:xfrm>
          <a:prstGeom prst="roundRect">
            <a:avLst>
              <a:gd fmla="val 17500" name="adj"/>
            </a:avLst>
          </a:prstGeom>
          <a:ln cap="flat" cmpd="sng" w="9525">
            <a:solidFill>
              <a:srgbClr val="818C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919472" y="3840480"/>
            <a:ext cx="3566160" cy="25603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hooks/  </a:t>
            </a:r>
            <a:r>
              <a:rPr b="0" i="0" lang="en-US" sz="105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Safety gates for every tool call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Skills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365760" y="1097280"/>
            <a:ext cx="411480" cy="411480"/>
          </a:xfrm>
          <a:prstGeom prst="ellipse">
            <a:avLst/>
          </a:prstGeom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365760" y="1115568"/>
            <a:ext cx="411480" cy="347472"/>
          </a:xfrm>
          <a:prstGeom prst="rect">
            <a:avLst/>
          </a:prstGeom>
          <a:ln>
            <a:noFill/>
          </a:ln>
          <a:solidFill>
            <a:srgbClr val="67391B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1EB"/>
                </a:solidFill>
                <a:latin typeface="DM Sans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65760" y="1600200"/>
            <a:ext cx="2651760" cy="41148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2816"/>
                </a:solidFill>
                <a:latin typeface="DM Sans"/>
                <a:ea typeface="Calibri"/>
                <a:cs typeface="Calibri"/>
                <a:sym typeface="Calibri"/>
              </a:rPr>
              <a:t>Create a skills directory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65760" y="2057400"/>
            <a:ext cx="2697480" cy="2560320"/>
          </a:xfrm>
          <a:prstGeom prst="roundRect">
            <a:avLst>
              <a:gd fmla="val 3571" name="adj"/>
            </a:avLst>
          </a:prstGeom>
          <a:ln cap="flat" cmpd="sng" w="9525">
            <a:solidFill>
              <a:srgbClr val="34D39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502920" y="2176272"/>
            <a:ext cx="2423160" cy="233172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mkdir -p skills/summarize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291840" y="1097280"/>
            <a:ext cx="411480" cy="411480"/>
          </a:xfrm>
          <a:prstGeom prst="ellipse">
            <a:avLst/>
          </a:prstGeom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3291840" y="1115568"/>
            <a:ext cx="411480" cy="347472"/>
          </a:xfrm>
          <a:prstGeom prst="rect">
            <a:avLst/>
          </a:prstGeom>
          <a:ln>
            <a:noFill/>
          </a:ln>
          <a:solidFill>
            <a:srgbClr val="67391B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1EB"/>
                </a:solidFill>
                <a:latin typeface="DM Sans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91840" y="1600200"/>
            <a:ext cx="2651760" cy="41148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2816"/>
                </a:solidFill>
                <a:latin typeface="DM Sans"/>
                <a:ea typeface="Calibri"/>
                <a:cs typeface="Calibri"/>
                <a:sym typeface="Calibri"/>
              </a:rPr>
              <a:t>Write the skill in markdown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291840" y="2057400"/>
            <a:ext cx="2697480" cy="2560320"/>
          </a:xfrm>
          <a:prstGeom prst="roundRect">
            <a:avLst>
              <a:gd fmla="val 3571" name="adj"/>
            </a:avLst>
          </a:prstGeom>
          <a:ln cap="flat" cmpd="sng" w="9525">
            <a:solidFill>
              <a:srgbClr val="34D39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429000" y="2176272"/>
            <a:ext cx="2423160" cy="233172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name: summarize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Summarize any 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1. Read the target 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2. Find the 5 key points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3. Write to workspace/summaries/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217920" y="1097280"/>
            <a:ext cx="411480" cy="411480"/>
          </a:xfrm>
          <a:prstGeom prst="ellipse">
            <a:avLst/>
          </a:prstGeom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217920" y="1115568"/>
            <a:ext cx="411480" cy="347472"/>
          </a:xfrm>
          <a:prstGeom prst="rect">
            <a:avLst/>
          </a:prstGeom>
          <a:ln>
            <a:noFill/>
          </a:ln>
          <a:solidFill>
            <a:srgbClr val="67391B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1EB"/>
                </a:solidFill>
                <a:latin typeface="DM Sans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2816"/>
                </a:solidFill>
                <a:latin typeface="DM Sans"/>
                <a:ea typeface="Calibri"/>
                <a:cs typeface="Calibri"/>
                <a:sym typeface="Calibri"/>
              </a:rPr>
              <a:t>Invoke the skill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217920" y="2057400"/>
            <a:ext cx="2697480" cy="2560320"/>
          </a:xfrm>
          <a:prstGeom prst="roundRect">
            <a:avLst>
              <a:gd fmla="val 3571" name="adj"/>
            </a:avLst>
          </a:prstGeom>
          <a:ln cap="flat" cmpd="sng" w="9525">
            <a:solidFill>
              <a:srgbClr val="34D39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355080" y="2176272"/>
            <a:ext cx="2423160" cy="233172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gitagent --dir . "Use the summarize skill on sample.txt"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Hooks — Safety Gates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457200" y="1078992"/>
            <a:ext cx="393192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hooks/hooks.yaml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57200" y="1371600"/>
            <a:ext cx="3931920" cy="1188720"/>
          </a:xfrm>
          <a:prstGeom prst="roundRect">
            <a:avLst>
              <a:gd fmla="val 7692" name="adj"/>
            </a:avLst>
          </a:prstGeom>
          <a:ln cap="flat" cmpd="sng" w="9525">
            <a:solidFill>
              <a:srgbClr val="818C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621792" y="1481328"/>
            <a:ext cx="3611880" cy="10058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hooks: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pre_tool_use: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  - script: safety-check.sh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2697480"/>
            <a:ext cx="393192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hooks/safety-check.sh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57200" y="2999232"/>
            <a:ext cx="3931920" cy="1645920"/>
          </a:xfrm>
          <a:prstGeom prst="roundRect">
            <a:avLst>
              <a:gd fmla="val 5556" name="adj"/>
            </a:avLst>
          </a:prstGeom>
          <a:ln cap="flat" cmpd="sng" w="9525">
            <a:solidFill>
              <a:srgbClr val="818C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21792" y="3090672"/>
            <a:ext cx="3611880" cy="14630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INPUT=$(cat)   # JSON on stdin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>
                <a:solidFill/>
                <a:latin typeface="Courier New"/>
              </a:rP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echo '{"action":"allow"}'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echo '{"action":"block","reason":"…"}'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echo '{"action":"modify","args":{…}}'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754880" y="1234440"/>
            <a:ext cx="3931920" cy="1005840"/>
          </a:xfrm>
          <a:prstGeom prst="roundRect">
            <a:avLst>
              <a:gd fmla="val 9091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919472" y="1371600"/>
            <a:ext cx="3566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DM Sans"/>
                <a:ea typeface="Calibri"/>
                <a:cs typeface="Calibri"/>
                <a:sym typeface="Calibri"/>
              </a:rPr>
              <a:t>allow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919472" y="1737360"/>
            <a:ext cx="3566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Pass the tool call through unchanged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754880" y="2487168"/>
            <a:ext cx="3931920" cy="1005840"/>
          </a:xfrm>
          <a:prstGeom prst="roundRect">
            <a:avLst>
              <a:gd fmla="val 9091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4919472" y="2624328"/>
            <a:ext cx="3566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DM Sans"/>
                <a:ea typeface="Calibri"/>
                <a:cs typeface="Calibri"/>
                <a:sym typeface="Calibri"/>
              </a:rPr>
              <a:t>block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919472" y="2990088"/>
            <a:ext cx="3566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Prevent the tool call with a reason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754880" y="3739896"/>
            <a:ext cx="3931920" cy="1005840"/>
          </a:xfrm>
          <a:prstGeom prst="roundRect">
            <a:avLst>
              <a:gd fmla="val 9091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919472" y="3877056"/>
            <a:ext cx="3566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modify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919472" y="4242816"/>
            <a:ext cx="3566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Rewrite the tool call arguments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SDK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457200" y="1097280"/>
            <a:ext cx="5303520" cy="3657600"/>
          </a:xfrm>
          <a:prstGeom prst="roundRect">
            <a:avLst>
              <a:gd fmla="val 2500" name="adj"/>
            </a:avLst>
          </a:prstGeom>
          <a:ln cap="flat" cmpd="sng" w="9525">
            <a:solidFill>
              <a:srgbClr val="38BDF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621792" y="1207008"/>
            <a:ext cx="4983480" cy="342900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import { query } from "@open-gitagent/gitagent";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rPr>
                <a:solidFill/>
                <a:latin typeface="Courier New"/>
              </a:rP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async function main()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const session = query({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  prompt: "Summarize my notes",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  dir: "./my-agent",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  model: "anthropic:claude-sonnet-4-6",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rPr>
                <a:solidFill/>
                <a:latin typeface="Courier New"/>
              </a:rP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for await (const msg of session)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  if (msg.type === "assistant")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    console.log(msg.content);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rPr>
                <a:solidFill/>
                <a:latin typeface="Courier New"/>
              </a:rP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main();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989320" y="1097280"/>
            <a:ext cx="2743200" cy="1051560"/>
          </a:xfrm>
          <a:prstGeom prst="roundRect">
            <a:avLst>
              <a:gd fmla="val 8696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6144768" y="1207008"/>
            <a:ext cx="2423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⚡ Async Streaming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144768" y="1572768"/>
            <a:ext cx="2423160" cy="45720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Iterate messages as they arrive via async/await generator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989320" y="2350008"/>
            <a:ext cx="2743200" cy="1051560"/>
          </a:xfrm>
          <a:prstGeom prst="roundRect">
            <a:avLst>
              <a:gd fmla="val 8696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144768" y="2459736"/>
            <a:ext cx="2423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🔌 Model Agnostic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144768" y="2825496"/>
            <a:ext cx="2423160" cy="45720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Swap models via string — Anthropic, OpenAI, or others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989320" y="3602736"/>
            <a:ext cx="2743200" cy="1051560"/>
          </a:xfrm>
          <a:prstGeom prst="roundRect">
            <a:avLst>
              <a:gd fmla="val 8696" name="adj"/>
            </a:avLst>
          </a:prstGeom>
          <a:ln>
            <a:noFill/>
          </a:ln>
          <a:effectLst>
            <a:outerShdw blurRad="152400" rotWithShape="0" algn="bl" dir="2700000" dist="38100">
              <a:srgbClr val="000000">
                <a:alpha val="34901"/>
              </a:srgbClr>
            </a:outerShdw>
          </a:effectLst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144768" y="3712464"/>
            <a:ext cx="2423160" cy="347472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📂 Dir</a:t>
            </a:r>
            <a:r>
              <a:rPr b="1" lang="en-US" sz="1300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/Repo </a:t>
            </a:r>
            <a:r>
              <a:rPr b="1" i="0" lang="en-US" sz="13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based Config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144768" y="4078224"/>
            <a:ext cx="2423160" cy="45720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Agent behavior loaded entirely from local files or repositories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-1097280" y="-457200"/>
            <a:ext cx="2743200" cy="2743200"/>
          </a:xfrm>
          <a:prstGeom prst="ellipse">
            <a:avLst/>
          </a:prstGeom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7391B"/>
                </a:solidFill>
                <a:latin typeface="Georgia"/>
                <a:ea typeface="Calibri"/>
                <a:cs typeface="Calibri"/>
                <a:sym typeface="Calibri"/>
              </a:rPr>
              <a:t>Get Started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7391B"/>
                </a:solidFill>
                <a:latin typeface="DM Sans"/>
                <a:ea typeface="Calibri"/>
                <a:cs typeface="Calibri"/>
                <a:sym typeface="Calibri"/>
              </a:rPr>
              <a:t>Bootstrap your first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57200" y="1444752"/>
            <a:ext cx="8229600" cy="658368"/>
          </a:xfrm>
          <a:prstGeom prst="roundRect">
            <a:avLst>
              <a:gd fmla="val 11111" name="adj"/>
            </a:avLst>
          </a:prstGeom>
          <a:ln cap="flat" cmpd="sng" w="9525">
            <a:solidFill>
              <a:srgbClr val="38BDF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mkdir ~/my-agent &amp;&amp; cd ~/my-agent &amp;&amp; git init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gitagent --dir . "Hello"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DM Sans"/>
                <a:ea typeface="Calibri"/>
                <a:cs typeface="Calibri"/>
                <a:sym typeface="Calibri"/>
              </a:rPr>
              <a:t>Launch with voice + web UI on localhost:3333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57200" y="2679192"/>
            <a:ext cx="8229600" cy="658368"/>
          </a:xfrm>
          <a:prstGeom prst="roundRect">
            <a:avLst>
              <a:gd fmla="val 11111" name="adj"/>
            </a:avLst>
          </a:prstGeom>
          <a:ln cap="flat" cmpd="sng" w="9525">
            <a:solidFill>
              <a:srgbClr val="818CF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gitagent --voice --dir 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DM Sans"/>
                <a:ea typeface="Calibri"/>
                <a:cs typeface="Calibri"/>
                <a:sym typeface="Calibri"/>
              </a:rPr>
              <a:t>Run via TypeScript SDK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3913632"/>
            <a:ext cx="8229600" cy="658368"/>
          </a:xfrm>
          <a:prstGeom prst="roundRect">
            <a:avLst>
              <a:gd fmla="val 11111" name="adj"/>
            </a:avLst>
          </a:prstGeom>
          <a:ln cap="flat" cmpd="sng" w="9525">
            <a:solidFill>
              <a:srgbClr val="34D39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solidFill>
            <a:srgbClr val="F0EAE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DM Sans"/>
              </a:rP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ln>
            <a:noFill/>
          </a:ln>
          <a:solidFill>
            <a:srgbClr val="2E1A0E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CB59F"/>
                </a:solidFill>
                <a:latin typeface="Courier New"/>
                <a:ea typeface="Courier New"/>
                <a:cs typeface="Courier New"/>
                <a:sym typeface="Courier New"/>
              </a:rPr>
              <a:t>npx tsx sample.ts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ln>
            <a:noFill/>
          </a:ln>
          <a:solidFill>
            <a:srgbClr val="F0EAE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6F5C"/>
                </a:solidFill>
                <a:latin typeface="DM Sans"/>
                <a:ea typeface="Calibri"/>
                <a:cs typeface="Calibri"/>
                <a:sym typeface="Calibri"/>
              </a:rPr>
              <a:t>Abhinivesh S  ·  AI Engineer  ·  LyzrAI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